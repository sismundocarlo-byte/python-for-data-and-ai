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455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Key Findings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394960" y="3794760"/>
            <a:ext cx="137160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messy 28,000+ response survey to reliable insights on pay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[Group Members]  ·  [Course / Date]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 messy, real-world salary survey dataset and turn it into reliable insights through exploratory data analysis and visualization.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28,225 raw survey responses </a:t>
            </a:r>
            <a:r>
              <a:rPr lang="en-US" sz="13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(AskAManager.org, 2021), </a:t>
            </a:r>
            <a:r>
              <a:rPr lang="en-US" sz="1350" b="1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original columns</a:t>
            </a:r>
            <a:r>
              <a:rPr lang="en-US" sz="13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mostly long Google Form question text.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530352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14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RAW COLUMN NAME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4407408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your annual salary? (You'll indicate the currency in a later question. If you are part-time or hourly, please enter an annualized equivalent — what you would earn if you worked the job 40 hours a week, 52 weeks a year.)”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renamed to: annual_salary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68112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105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95160" y="23042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more experience mean more money, and by how much per year?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95160" y="314553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Master's/PhD worth it in dollar terms?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95160" y="398678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industries pay the best?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95160" y="482803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location change what you get paid?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5650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5669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job titles pay the most, and how consistent is pay within a title?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18 raw columns removed (metadata, redundant, or out-of-scope free text); the 9 kept were renamed from long question text to short field names.
</a:t>
            </a:r>
            <a:endParaRPr lang="en-US" sz="14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standardization: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5486400" cy="12344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After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industry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A3F"/>
                          </a:solidFill>
                        </a:rPr>
                        <a:t>1,225 unique values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A3F"/>
                          </a:solidFill>
                        </a:rPr>
                        <a:t>24 categories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job_title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A3F"/>
                          </a:solidFill>
                        </a:rPr>
                        <a:t>14,434 unique values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A3F"/>
                          </a:solidFill>
                        </a:rPr>
                        <a:t>41 categories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country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A3F"/>
                          </a:solidFill>
                        </a:rPr>
                        <a:t>363 unique values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A3F"/>
                          </a:solidFill>
                        </a:rPr>
                        <a:t>11 categories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field stored as text with commas (“55,000”) — converted to numeric.</a:t>
            </a:r>
            <a:endParaRPr lang="en-US" sz="1450" dirty="0"/>
          </a:p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Currency: dropped the ~0.6% of rows with Other/unspecified currency — no reliable value to compare.</a:t>
            </a:r>
            <a:endParaRPr lang="en-US" sz="1450" dirty="0"/>
          </a:p>
          <a:p>
            <a:pPr marL="228600" indent="-2286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handled deliberately: education &amp; gender nulls (&lt;1%) labeled “Not Specified,” not imputed — avoids fabricating demographic data.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55080" y="1554480"/>
            <a:ext cx="5285232" cy="2331720"/>
          </a:xfrm>
          <a:prstGeom prst="roundRect">
            <a:avLst>
              <a:gd name="adj" fmla="val 3137"/>
            </a:avLst>
          </a:prstGeom>
          <a:solidFill>
            <a:srgbClr val="FBF1E7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719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83680" y="202996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(not silently dropped) </a:t>
            </a:r>
            <a:r>
              <a:rPr lang="en-US" sz="130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 outside a plausible $10,000–$2,000,000 range, using a fixed domain-based rule rather than a statistical rule — which would misfire on right-skewed income data.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 rows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(0.74%)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55080" y="4069080"/>
            <a:ext cx="5285232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0" y="4233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ANALYSIS-READY DATASET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83680" y="4526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27,841 rows × 9 columns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583680" y="5074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typed (categoricals, ordered categoricals for age &amp; experience) — zero remaining nulls.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→ Salary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98448" y="1042416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more experience means more money.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173736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800"/>
              </a:lnSpc>
              <a:buSzPct val="100000"/>
              <a:buChar char="•"/>
            </a:pPr>
            <a:r>
              <a:rPr lang="en-US" sz="13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salary rises from $53,000 (1 year or less) to $102,000 (21–30 years).</a:t>
            </a:r>
            <a:endParaRPr lang="en-US" sz="1350" dirty="0"/>
          </a:p>
          <a:p>
            <a:pPr marL="203200" indent="-203200">
              <a:lnSpc>
                <a:spcPts val="1800"/>
              </a:lnSpc>
              <a:buSzPct val="100000"/>
              <a:buChar char="•"/>
            </a:pPr>
            <a:r>
              <a:rPr lang="en-US" sz="13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grows fastest in the first 10–15 years, then plateaus after ~20 years.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72400" y="5120640"/>
            <a:ext cx="388620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5248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experience reliably means more pay — up to a point, after which it plateaus.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7DD28C-2C8A-58E9-BE6E-D3D66887E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89532"/>
            <a:ext cx="6926996" cy="43293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→ Salary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98448" y="1042416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Master's degree is worth more, but the gap is modest.</a:t>
            </a:r>
            <a:endParaRPr lang="en-US" sz="1300" dirty="0"/>
          </a:p>
        </p:txBody>
      </p:sp>
      <p:pic>
        <p:nvPicPr>
          <p:cNvPr id="6" name="Image 0" descr="charts/chart2_edu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90372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1737360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$56,000 → College $72,800 → Master's $79,000 → PhD $92,000 → Professional (MD/JD) $114,000.</a:t>
            </a:r>
            <a:endParaRPr lang="en-US" sz="1350" dirty="0"/>
          </a:p>
          <a:p>
            <a:pPr marL="203200" indent="-203200">
              <a:lnSpc>
                <a:spcPts val="1700"/>
              </a:lnSpc>
              <a:buSzPct val="100000"/>
              <a:buChar char="•"/>
            </a:pPr>
            <a:r>
              <a:rPr lang="en-US" sz="13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vs. College: +$6,200 median — real but modest, and statistically significant (p &lt; 0.001).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72400" y="5120640"/>
            <a:ext cx="388620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001000" y="5248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salaries overlap heavily across education levels — a degree alone doesn't guarantee higher pay.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→ Salary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98448" y="1042416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varies sharply by industry (≥100 responses each).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17373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24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$112,500</a:t>
            </a:r>
            <a:endParaRPr lang="en-US" sz="24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Technology — highest paying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7772400" y="2697480"/>
            <a:ext cx="388620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28346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2400" b="1" dirty="0">
                <a:solidFill>
                  <a:srgbClr val="B44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$49,000</a:t>
            </a:r>
            <a:endParaRPr lang="en-US" sz="24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Retail/Sales — lowest paying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0" y="379476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notable: Legal ($90,000), Business/Consulting ($88,000), Engineering/Manufacturing ($83,500).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72400" y="5120640"/>
            <a:ext cx="3886200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5248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001000" y="5532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clearly depends on industry — IT tops the list, Retail/Sales is lowest.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D07316-0273-9B4F-B547-35F04CFC3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516259"/>
            <a:ext cx="5605112" cy="49044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→ Salary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98448" y="1042416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but the comparison comes with caveats.</a:t>
            </a:r>
            <a:endParaRPr lang="en-US" sz="1300" dirty="0"/>
          </a:p>
        </p:txBody>
      </p:sp>
      <p:pic>
        <p:nvPicPr>
          <p:cNvPr id="6" name="Image 0" descr="charts/chart4_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903720" cy="429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0" y="173736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22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$78,800</a:t>
            </a:r>
            <a:endParaRPr lang="en-US" sz="2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States — highest approx. median pay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0" y="2651760"/>
            <a:ext cx="388620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27889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22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$50,760</a:t>
            </a:r>
            <a:endParaRPr lang="en-US" sz="2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 — lowest approx. median pay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772400" y="4160520"/>
            <a:ext cx="3886200" cy="2011680"/>
          </a:xfrm>
          <a:prstGeom prst="roundRect">
            <a:avLst>
              <a:gd name="adj" fmla="val 3182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42885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01000" y="4572000"/>
            <a:ext cx="3429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all responses are from the US, so non-US medians rest on much smaller samples. Currency conversion used fixed, approximate rates — not adjusted for cost of living.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98448" y="411480"/>
            <a:ext cx="10314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Title → Pay Level vs. Consistency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98448" y="1042416"/>
            <a:ext cx="10314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indicates the ballpark, not the exact number.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1737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MEDIAN PAY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0" y="20116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VP/Senior Leadership ($152,000), Software Engineer ($135,600), Executive C-Suite ($135,000)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0" y="2926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CONSISTENT (NARROW SPREAD)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32004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Assistant, Customer Service, Coordinator — lower pay, but tightly clustered.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0" y="41148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CONSISTENT (WIDE SPREAD)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438912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(C-Suite), VP/Senior Leadership — high pay on average, but wide person-to-person variation.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0" y="5349240"/>
            <a:ext cx="3886200" cy="822960"/>
          </a:xfrm>
          <a:prstGeom prst="roundRect">
            <a:avLst>
              <a:gd name="adj" fmla="val 7778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001000" y="54772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01000" y="5760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 indicates the ballpark, not the exact number — especially at senior levels.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0D59AB-C6D8-CE0B-82DF-3B0E18268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89299"/>
            <a:ext cx="6964078" cy="49743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9144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83280" y="16002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growth, plateaus after ~20 years.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9167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83280" y="25146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Master's/PhD pays more, but overlap between levels is significant.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1091672" cy="9144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34290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pay gap — IT tops the list, Retail/Sales is lowest.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1109167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43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43434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differs by country, but data is US-dominated and not cost-of-living adjusted.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91672" cy="9144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57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Title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525780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pay level but not consistency — some titles vary widely.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to Mention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993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737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survey data — no way to verify accuracy.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136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880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US-skewed sample (~83% of responses).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279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023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conversion for country comparison is approximate, not cost-of-living adjusted.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4223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5166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50" dirty="0">
                <a:solidFill>
                  <a:srgbClr val="26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fields (industry, job title, country) required keyword-based categorization, which may misclassify edge cases.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Salary Survey — Key Points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976</Words>
  <Application>Microsoft Office PowerPoint</Application>
  <PresentationFormat>Widescreen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Allen Paligutan</cp:lastModifiedBy>
  <cp:revision>2</cp:revision>
  <dcterms:created xsi:type="dcterms:W3CDTF">2026-09-09T10:54:53Z</dcterms:created>
  <dcterms:modified xsi:type="dcterms:W3CDTF">2026-09-09T11:16:42Z</dcterms:modified>
</cp:coreProperties>
</file>